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884902"/>
            <a:ext cx="9144000" cy="2286000"/>
          </a:xfrm>
        </p:spPr>
        <p:txBody>
          <a:bodyPr>
            <a:normAutofit/>
          </a:bodyPr>
          <a:lstStyle/>
          <a:p>
            <a:r>
              <a:rPr lang="en-US" sz="4800" dirty="0">
                <a:latin typeface="Bahnschrift" panose="020B0502040204020203" pitchFamily="34" charset="0"/>
              </a:rPr>
              <a:t>C</a:t>
            </a:r>
            <a:r>
              <a:rPr lang="en-IN" sz="4800" dirty="0" err="1">
                <a:latin typeface="Bahnschrift" panose="020B0502040204020203" pitchFamily="34" charset="0"/>
              </a:rPr>
              <a:t>ourier</a:t>
            </a:r>
            <a:r>
              <a:rPr lang="en-IN" sz="4800" dirty="0">
                <a:latin typeface="Bahnschrift" panose="020B0502040204020203" pitchFamily="34" charset="0"/>
              </a:rPr>
              <a:t> Delivery and route tracking</a:t>
            </a:r>
            <a:br>
              <a:rPr lang="en-IN" dirty="0">
                <a:latin typeface="Bahnschrift" panose="020B0502040204020203" pitchFamily="34" charset="0"/>
              </a:rPr>
            </a:br>
            <a:r>
              <a:rPr lang="en-IN" sz="4000" dirty="0">
                <a:latin typeface="Bahnschrift" panose="020B0502040204020203" pitchFamily="34" charset="0"/>
              </a:rPr>
              <a:t>(Group no 22)</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Student Name :</a:t>
            </a:r>
            <a:r>
              <a:rPr lang="en-IN" dirty="0" err="1"/>
              <a:t>YVVN.Varshita</a:t>
            </a:r>
            <a:r>
              <a:rPr lang="en-IN" dirty="0"/>
              <a:t> Chowdary	 Roll No:2620030614</a:t>
            </a:r>
          </a:p>
          <a:p>
            <a:r>
              <a:rPr lang="en-IN" dirty="0"/>
              <a:t>Student Name :Samba Yashaswini  	Roll No:2620030299</a:t>
            </a:r>
          </a:p>
          <a:p>
            <a:endParaRPr lang="en-IN" dirty="0"/>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
        <p:nvSpPr>
          <p:cNvPr id="7" name="Content Placeholder 6">
            <a:extLst>
              <a:ext uri="{FF2B5EF4-FFF2-40B4-BE49-F238E27FC236}">
                <a16:creationId xmlns:a16="http://schemas.microsoft.com/office/drawing/2014/main" id="{34ACEE45-C1ED-EE63-DDB7-36527BF5C59B}"/>
              </a:ext>
            </a:extLst>
          </p:cNvPr>
          <p:cNvSpPr>
            <a:spLocks noGrp="1"/>
          </p:cNvSpPr>
          <p:nvPr>
            <p:ph idx="1"/>
          </p:nvPr>
        </p:nvSpPr>
        <p:spPr/>
        <p:txBody>
          <a:bodyPr>
            <a:normAutofit/>
          </a:bodyPr>
          <a:lstStyle/>
          <a:p>
            <a:r>
              <a:rPr lang="en-IN" sz="2400" dirty="0">
                <a:latin typeface="Calibri Light" panose="020F0302020204030204" pitchFamily="34" charset="0"/>
                <a:cs typeface="Calibri Light" panose="020F0302020204030204" pitchFamily="34" charset="0"/>
              </a:rPr>
              <a:t>The Courier Delivery Route and Tracking System optimizes parcel logistics to make courier management faster, more organized, and reliable. The system helps delivery personnel locate efficient paths to multiple destinations, reducing travel time and operational delays. It provides real-time tracking, allowing customers to monitor package location and transit status instantly. By using route optimization and live tracking, the system connects customers, couriers, and administrators through a single platform to improve overall delivery efficiency.</a:t>
            </a:r>
          </a:p>
          <a:p>
            <a:pPr marL="0" indent="0">
              <a:buNone/>
            </a:pPr>
            <a:endParaRPr lang="en-IN" dirty="0"/>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p:txBody>
          <a:bodyPr>
            <a:normAutofit/>
          </a:bodyPr>
          <a:lstStyle/>
          <a:p>
            <a:pPr lvl="0"/>
            <a:r>
              <a:rPr lang="en-IN" sz="2400" b="1" dirty="0">
                <a:latin typeface="Calibri Light" panose="020F0302020204030204" pitchFamily="34" charset="0"/>
                <a:cs typeface="Calibri Light" panose="020F0302020204030204" pitchFamily="34" charset="0"/>
              </a:rPr>
              <a:t>Processing Bottlenecks:</a:t>
            </a:r>
            <a:r>
              <a:rPr lang="en-IN" sz="2400" dirty="0">
                <a:latin typeface="Calibri Light" panose="020F0302020204030204" pitchFamily="34" charset="0"/>
                <a:cs typeface="Calibri Light" panose="020F0302020204030204" pitchFamily="34" charset="0"/>
              </a:rPr>
              <a:t> Slow manual logs and high data matching errors in traditional hubs.</a:t>
            </a:r>
          </a:p>
          <a:p>
            <a:pPr lvl="0"/>
            <a:r>
              <a:rPr lang="en-IN" sz="2400" b="1" dirty="0">
                <a:latin typeface="Calibri Light" panose="020F0302020204030204" pitchFamily="34" charset="0"/>
                <a:cs typeface="Calibri Light" panose="020F0302020204030204" pitchFamily="34" charset="0"/>
              </a:rPr>
              <a:t>Visibility Deficit:</a:t>
            </a:r>
            <a:r>
              <a:rPr lang="en-IN" sz="2400" dirty="0">
                <a:latin typeface="Calibri Light" panose="020F0302020204030204" pitchFamily="34" charset="0"/>
                <a:cs typeface="Calibri Light" panose="020F0302020204030204" pitchFamily="34" charset="0"/>
              </a:rPr>
              <a:t> Customer delivery anxiety due to missing real-time shipment updates.</a:t>
            </a:r>
          </a:p>
          <a:p>
            <a:pPr lvl="0"/>
            <a:r>
              <a:rPr lang="en-IN" sz="2400" b="1" dirty="0">
                <a:latin typeface="Calibri Light" panose="020F0302020204030204" pitchFamily="34" charset="0"/>
                <a:cs typeface="Calibri Light" panose="020F0302020204030204" pitchFamily="34" charset="0"/>
              </a:rPr>
              <a:t>Storage Hurdles:</a:t>
            </a:r>
            <a:r>
              <a:rPr lang="en-IN" sz="2400" dirty="0">
                <a:latin typeface="Calibri Light" panose="020F0302020204030204" pitchFamily="34" charset="0"/>
                <a:cs typeface="Calibri Light" panose="020F0302020204030204" pitchFamily="34" charset="0"/>
              </a:rPr>
              <a:t> Inability to track vacant storage spaces dynamically inside sorting bays.</a:t>
            </a:r>
          </a:p>
          <a:p>
            <a:pPr lvl="0"/>
            <a:r>
              <a:rPr lang="en-IN" sz="2400" b="1" dirty="0">
                <a:latin typeface="Calibri Light" panose="020F0302020204030204" pitchFamily="34" charset="0"/>
                <a:cs typeface="Calibri Light" panose="020F0302020204030204" pitchFamily="34" charset="0"/>
              </a:rPr>
              <a:t>Solution:</a:t>
            </a:r>
            <a:r>
              <a:rPr lang="en-IN" sz="2400" dirty="0">
                <a:latin typeface="Calibri Light" panose="020F0302020204030204" pitchFamily="34" charset="0"/>
                <a:cs typeface="Calibri Light" panose="020F0302020204030204" pitchFamily="34" charset="0"/>
              </a:rPr>
              <a:t> A compact Java program to book parcels, map grid spaces, and handle errors.</a:t>
            </a:r>
          </a:p>
          <a:p>
            <a:pPr marL="0" indent="0">
              <a:buNone/>
            </a:pPr>
            <a:endParaRPr lang="en-IN" dirty="0"/>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dirty="0"/>
              <a:t>CO 1 Topics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777240" y="1691640"/>
            <a:ext cx="4892040" cy="4434840"/>
          </a:xfrm>
        </p:spPr>
        <p:txBody>
          <a:bodyPr>
            <a:normAutofit fontScale="92500" lnSpcReduction="10000"/>
          </a:bodyPr>
          <a:lstStyle/>
          <a:p>
            <a:pPr lvl="0">
              <a:spcBef>
                <a:spcPts val="0"/>
              </a:spcBef>
              <a:spcAft>
                <a:spcPts val="800"/>
              </a:spcAft>
            </a:pPr>
            <a:r>
              <a:rPr lang="en-IN" sz="2000" b="1" dirty="0">
                <a:latin typeface="Calibri Light" panose="020F0302020204030204" pitchFamily="34" charset="0"/>
                <a:cs typeface="Calibri Light" panose="020F0302020204030204" pitchFamily="34" charset="0"/>
              </a:rPr>
              <a:t>Primitive Datatypes:</a:t>
            </a:r>
            <a:r>
              <a:rPr lang="en-IN" sz="2000" dirty="0">
                <a:latin typeface="Calibri Light" panose="020F0302020204030204" pitchFamily="34" charset="0"/>
                <a:cs typeface="Calibri Light" panose="020F0302020204030204" pitchFamily="34" charset="0"/>
              </a:rPr>
              <a:t> Allocated double weight for precise package weight and char tier for locker sizes to minimize layout overhead.</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Console Intake Shell:</a:t>
            </a:r>
            <a:r>
              <a:rPr lang="en-IN" sz="2000" dirty="0">
                <a:latin typeface="Calibri Light" panose="020F0302020204030204" pitchFamily="34" charset="0"/>
                <a:cs typeface="Calibri Light" panose="020F0302020204030204" pitchFamily="34" charset="0"/>
              </a:rPr>
              <a:t> Initialized a centralized Scanner  instance to pull keyboard tokens dynamically.</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Relational Math Operators:</a:t>
            </a:r>
            <a:r>
              <a:rPr lang="en-IN" sz="2000" dirty="0">
                <a:latin typeface="Calibri Light" panose="020F0302020204030204" pitchFamily="34" charset="0"/>
                <a:cs typeface="Calibri Light" panose="020F0302020204030204" pitchFamily="34" charset="0"/>
              </a:rPr>
              <a:t> Implemented logical inequality checking signs (&lt;=, &lt;, ==) to validate package data boundaries.</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Formatted Console I/O:</a:t>
            </a:r>
            <a:r>
              <a:rPr lang="en-IN" sz="2000" dirty="0">
                <a:latin typeface="Calibri Light" panose="020F0302020204030204" pitchFamily="34" charset="0"/>
                <a:cs typeface="Calibri Light" panose="020F0302020204030204" pitchFamily="34" charset="0"/>
              </a:rPr>
              <a:t> Leveraged standard </a:t>
            </a:r>
            <a:r>
              <a:rPr lang="en-IN" sz="2000" dirty="0" err="1">
                <a:latin typeface="Calibri Light" panose="020F0302020204030204" pitchFamily="34" charset="0"/>
                <a:cs typeface="Calibri Light" panose="020F0302020204030204" pitchFamily="34" charset="0"/>
              </a:rPr>
              <a:t>System.out.printf</a:t>
            </a:r>
            <a:r>
              <a:rPr lang="en-IN" sz="2000" dirty="0">
                <a:latin typeface="Calibri Light" panose="020F0302020204030204" pitchFamily="34" charset="0"/>
                <a:cs typeface="Calibri Light" panose="020F0302020204030204" pitchFamily="34" charset="0"/>
              </a:rPr>
              <a:t>() with %s, %.2f, and %n to print aligned receipts.</a:t>
            </a:r>
          </a:p>
          <a:p>
            <a:pPr lvl="0">
              <a:spcBef>
                <a:spcPts val="0"/>
              </a:spcBef>
              <a:spcAft>
                <a:spcPts val="800"/>
              </a:spcAft>
            </a:pPr>
            <a:r>
              <a:rPr lang="en-IN" sz="2000" b="1" dirty="0" err="1">
                <a:latin typeface="Calibri Light" panose="020F0302020204030204" pitchFamily="34" charset="0"/>
                <a:cs typeface="Calibri Light" panose="020F0302020204030204" pitchFamily="34" charset="0"/>
              </a:rPr>
              <a:t>Variables:</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To</a:t>
            </a:r>
            <a:r>
              <a:rPr lang="en-IN" sz="2000" dirty="0">
                <a:latin typeface="Calibri Light" panose="020F0302020204030204" pitchFamily="34" charset="0"/>
                <a:ea typeface="Calibri Light" panose="020F0302020204030204" pitchFamily="34" charset="0"/>
                <a:cs typeface="Calibri Light" panose="020F0302020204030204" pitchFamily="34" charset="0"/>
              </a:rPr>
              <a:t> track parcel details (</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Id,Weight</a:t>
            </a:r>
            <a:r>
              <a:rPr lang="en-IN" sz="2000" dirty="0">
                <a:latin typeface="Calibri Light" panose="020F0302020204030204" pitchFamily="34" charset="0"/>
                <a:ea typeface="Calibri Light" panose="020F0302020204030204" pitchFamily="34" charset="0"/>
                <a:cs typeface="Calibri Light" panose="020F0302020204030204" pitchFamily="34" charset="0"/>
              </a:rPr>
              <a:t>), control loops and choices (run, choice), and temporarily hold user inputs</a:t>
            </a:r>
          </a:p>
          <a:p>
            <a:pPr marL="0" indent="0">
              <a:spcBef>
                <a:spcPts val="0"/>
              </a:spcBef>
              <a:spcAft>
                <a:spcPts val="800"/>
              </a:spcAft>
              <a:buNone/>
            </a:pPr>
            <a:endParaRPr lang="en-IN" sz="2400" dirty="0"/>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pic>
        <p:nvPicPr>
          <p:cNvPr id="6" name="Picture 5" descr="co1.png"/>
          <p:cNvPicPr>
            <a:picLocks noChangeAspect="1"/>
          </p:cNvPicPr>
          <p:nvPr/>
        </p:nvPicPr>
        <p:blipFill>
          <a:blip r:embed="rId2"/>
          <a:stretch>
            <a:fillRect/>
          </a:stretch>
        </p:blipFill>
        <p:spPr>
          <a:xfrm>
            <a:off x="5897880" y="1691640"/>
            <a:ext cx="5532120" cy="4801235"/>
          </a:xfrm>
          <a:prstGeom prst="rect">
            <a:avLst/>
          </a:prstGeom>
        </p:spPr>
      </p:pic>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rPr lang="en-IN" dirty="0"/>
              <a:t>Co 2 TOPICS</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777240" y="1691640"/>
            <a:ext cx="4892040" cy="4434840"/>
          </a:xfrm>
        </p:spPr>
        <p:txBody>
          <a:bodyPr>
            <a:normAutofit fontScale="92500" lnSpcReduction="20000"/>
          </a:bodyPr>
          <a:lstStyle/>
          <a:p>
            <a:pPr lvl="0">
              <a:spcBef>
                <a:spcPts val="0"/>
              </a:spcBef>
              <a:spcAft>
                <a:spcPts val="800"/>
              </a:spcAft>
            </a:pPr>
            <a:r>
              <a:rPr lang="en-IN" sz="2400" b="1" dirty="0">
                <a:latin typeface="Calibri Light" panose="020F0302020204030204" pitchFamily="34" charset="0"/>
                <a:cs typeface="Calibri Light" panose="020F0302020204030204" pitchFamily="34" charset="0"/>
              </a:rPr>
              <a:t>Sentinel Loop Control:</a:t>
            </a:r>
            <a:r>
              <a:rPr lang="en-IN" sz="2400" dirty="0">
                <a:latin typeface="Calibri Light" panose="020F0302020204030204" pitchFamily="34" charset="0"/>
                <a:cs typeface="Calibri Light" panose="020F0302020204030204" pitchFamily="34" charset="0"/>
              </a:rPr>
              <a:t> System loops continuously via while (run) to handle multiple orders.</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Selection Structure:</a:t>
            </a:r>
            <a:r>
              <a:rPr lang="en-IN" sz="2400" dirty="0">
                <a:latin typeface="Calibri Light" panose="020F0302020204030204" pitchFamily="34" charset="0"/>
                <a:cs typeface="Calibri Light" panose="020F0302020204030204" pitchFamily="34" charset="0"/>
              </a:rPr>
              <a:t> Standard structured switch configuration handled via switch (choice).</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Ternary Logic Engine:</a:t>
            </a:r>
            <a:r>
              <a:rPr lang="en-IN" sz="2400" dirty="0">
                <a:latin typeface="Calibri Light" panose="020F0302020204030204" pitchFamily="34" charset="0"/>
                <a:cs typeface="Calibri Light" panose="020F0302020204030204" pitchFamily="34" charset="0"/>
              </a:rPr>
              <a:t> Conditional selection tracking shorthand: char tier = (w &lt;= 5.0) ? 'S' : 'L';.</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Logical Condition Guards:</a:t>
            </a:r>
            <a:r>
              <a:rPr lang="en-IN" sz="2400" dirty="0">
                <a:latin typeface="Calibri Light" panose="020F0302020204030204" pitchFamily="34" charset="0"/>
                <a:cs typeface="Calibri Light" panose="020F0302020204030204" pitchFamily="34" charset="0"/>
              </a:rPr>
              <a:t> Validates empty grid slots via if (grid[r][c] == 0).</a:t>
            </a:r>
          </a:p>
          <a:p>
            <a:pPr marL="0" lvl="0" indent="0">
              <a:spcBef>
                <a:spcPts val="0"/>
              </a:spcBef>
              <a:spcAft>
                <a:spcPts val="800"/>
              </a:spcAft>
              <a:buNone/>
            </a:pPr>
            <a:endParaRPr lang="en-IN" sz="2400" dirty="0">
              <a:latin typeface="Calibri Light" panose="020F0302020204030204" pitchFamily="34" charset="0"/>
              <a:cs typeface="Calibri Light" panose="020F0302020204030204" pitchFamily="34" charset="0"/>
            </a:endParaRPr>
          </a:p>
          <a:p>
            <a:pPr marL="0" indent="0">
              <a:spcBef>
                <a:spcPts val="0"/>
              </a:spcBef>
              <a:spcAft>
                <a:spcPts val="800"/>
              </a:spcAft>
              <a:buNone/>
            </a:pPr>
            <a:br>
              <a:rPr lang="en-IN" sz="2400" dirty="0">
                <a:latin typeface="Calibri Light" panose="020F0302020204030204" pitchFamily="34" charset="0"/>
                <a:cs typeface="Calibri Light" panose="020F0302020204030204" pitchFamily="34" charset="0"/>
              </a:rPr>
            </a:br>
            <a:endParaRPr lang="en-IN" sz="2400" dirty="0">
              <a:latin typeface="Calibri Light" panose="020F0302020204030204" pitchFamily="34" charset="0"/>
              <a:cs typeface="Calibri Light" panose="020F0302020204030204" pitchFamily="34" charset="0"/>
            </a:endParaRPr>
          </a:p>
          <a:p>
            <a:pPr marL="0" indent="0">
              <a:spcBef>
                <a:spcPts val="0"/>
              </a:spcBef>
              <a:spcAft>
                <a:spcPts val="800"/>
              </a:spcAft>
              <a:buNone/>
            </a:pPr>
            <a:endParaRPr lang="en-IN" dirty="0"/>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pic>
        <p:nvPicPr>
          <p:cNvPr id="6" name="Picture 5" descr="co2.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dirty="0"/>
              <a:t>CO 3 Topics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777240" y="1691640"/>
            <a:ext cx="4892040" cy="4434840"/>
          </a:xfrm>
        </p:spPr>
        <p:txBody>
          <a:bodyPr>
            <a:normAutofit/>
          </a:bodyPr>
          <a:lstStyle/>
          <a:p>
            <a:pPr lvl="0">
              <a:spcBef>
                <a:spcPts val="0"/>
              </a:spcBef>
              <a:spcAft>
                <a:spcPts val="800"/>
              </a:spcAft>
            </a:pPr>
            <a:r>
              <a:rPr lang="en-IN" sz="2000" b="1" dirty="0">
                <a:latin typeface="Calibri Light" panose="020F0302020204030204" pitchFamily="34" charset="0"/>
                <a:cs typeface="Calibri Light" panose="020F0302020204030204" pitchFamily="34" charset="0"/>
              </a:rPr>
              <a:t>Modular Methods:</a:t>
            </a:r>
            <a:r>
              <a:rPr lang="en-IN" sz="2000" dirty="0">
                <a:latin typeface="Calibri Light" panose="020F0302020204030204" pitchFamily="34" charset="0"/>
                <a:cs typeface="Calibri Light" panose="020F0302020204030204" pitchFamily="34" charset="0"/>
              </a:rPr>
              <a:t> Separated tracking actions out into clear, reusable member methods (show()).</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Recursion Stack Engine:</a:t>
            </a:r>
            <a:r>
              <a:rPr lang="en-IN" sz="2000" dirty="0">
                <a:latin typeface="Calibri Light" panose="020F0302020204030204" pitchFamily="34" charset="0"/>
                <a:cs typeface="Calibri Light" panose="020F0302020204030204" pitchFamily="34" charset="0"/>
              </a:rPr>
              <a:t> Programmed a self-invoking method (</a:t>
            </a:r>
            <a:r>
              <a:rPr lang="en-IN" sz="2000" dirty="0" err="1">
                <a:latin typeface="Calibri Light" panose="020F0302020204030204" pitchFamily="34" charset="0"/>
                <a:cs typeface="Calibri Light" panose="020F0302020204030204" pitchFamily="34" charset="0"/>
              </a:rPr>
              <a:t>getPin</a:t>
            </a:r>
            <a:r>
              <a:rPr lang="en-IN" sz="2000" dirty="0">
                <a:latin typeface="Calibri Light" panose="020F0302020204030204" pitchFamily="34" charset="0"/>
                <a:cs typeface="Calibri Light" panose="020F0302020204030204" pitchFamily="34" charset="0"/>
              </a:rPr>
              <a:t>()) that breaks down values mathematically to calculate a secure PIN token.</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2-D Matrix Layout:</a:t>
            </a:r>
            <a:r>
              <a:rPr lang="en-IN" sz="2000" dirty="0">
                <a:latin typeface="Calibri Light" panose="020F0302020204030204" pitchFamily="34" charset="0"/>
                <a:cs typeface="Calibri Light" panose="020F0302020204030204" pitchFamily="34" charset="0"/>
              </a:rPr>
              <a:t> </a:t>
            </a:r>
            <a:r>
              <a:rPr lang="en-IN" sz="2000" dirty="0" err="1">
                <a:latin typeface="Calibri Light" panose="020F0302020204030204" pitchFamily="34" charset="0"/>
                <a:cs typeface="Calibri Light" panose="020F0302020204030204" pitchFamily="34" charset="0"/>
              </a:rPr>
              <a:t>Modeled</a:t>
            </a:r>
            <a:r>
              <a:rPr lang="en-IN" sz="2000" dirty="0">
                <a:latin typeface="Calibri Light" panose="020F0302020204030204" pitchFamily="34" charset="0"/>
                <a:cs typeface="Calibri Light" panose="020F0302020204030204" pitchFamily="34" charset="0"/>
              </a:rPr>
              <a:t> physical warehouse storage slots directly as a multi-dimensional array grid (int[][] grid).</a:t>
            </a:r>
          </a:p>
          <a:p>
            <a:pPr lvl="0">
              <a:spcBef>
                <a:spcPts val="0"/>
              </a:spcBef>
              <a:spcAft>
                <a:spcPts val="800"/>
              </a:spcAft>
            </a:pPr>
            <a:r>
              <a:rPr lang="en-IN" sz="2000" b="1" dirty="0">
                <a:latin typeface="Calibri Light" panose="020F0302020204030204" pitchFamily="34" charset="0"/>
                <a:cs typeface="Calibri Light" panose="020F0302020204030204" pitchFamily="34" charset="0"/>
              </a:rPr>
              <a:t>Nested Loop Traversal:</a:t>
            </a:r>
            <a:r>
              <a:rPr lang="en-IN" sz="2000" dirty="0">
                <a:latin typeface="Calibri Light" panose="020F0302020204030204" pitchFamily="34" charset="0"/>
                <a:cs typeface="Calibri Light" panose="020F0302020204030204" pitchFamily="34" charset="0"/>
              </a:rPr>
              <a:t> Ran loops inside each other to scan coordinates row-by-row to isolate open storage bays automatically.</a:t>
            </a:r>
          </a:p>
          <a:p>
            <a:pPr>
              <a:spcBef>
                <a:spcPts val="0"/>
              </a:spcBef>
              <a:spcAft>
                <a:spcPts val="800"/>
              </a:spcAft>
            </a:pPr>
            <a:endParaRPr lang="en-IN" dirty="0"/>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a:p>
        </p:txBody>
      </p:sp>
      <p:pic>
        <p:nvPicPr>
          <p:cNvPr id="6" name="Picture 5" descr="co3.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p:txBody>
          <a:bodyPr/>
          <a:lstStyle/>
          <a:p>
            <a:r>
              <a:rPr lang="en-IN" dirty="0"/>
              <a:t>CO 4</a:t>
            </a:r>
          </a:p>
        </p:txBody>
      </p:sp>
      <p:sp>
        <p:nvSpPr>
          <p:cNvPr id="3" name="Content Placeholder 2">
            <a:extLst>
              <a:ext uri="{FF2B5EF4-FFF2-40B4-BE49-F238E27FC236}">
                <a16:creationId xmlns:a16="http://schemas.microsoft.com/office/drawing/2014/main" id="{44C763C4-B644-2CBF-4AE1-87632858C4E5}"/>
              </a:ext>
            </a:extLst>
          </p:cNvPr>
          <p:cNvSpPr>
            <a:spLocks noGrp="1"/>
          </p:cNvSpPr>
          <p:nvPr>
            <p:ph idx="1"/>
          </p:nvPr>
        </p:nvSpPr>
        <p:spPr>
          <a:xfrm>
            <a:off x="777240" y="1691640"/>
            <a:ext cx="4892040" cy="4434840"/>
          </a:xfrm>
        </p:spPr>
        <p:txBody>
          <a:bodyPr>
            <a:normAutofit fontScale="92500" lnSpcReduction="10000"/>
          </a:bodyPr>
          <a:lstStyle/>
          <a:p>
            <a:pPr lvl="0">
              <a:spcBef>
                <a:spcPts val="0"/>
              </a:spcBef>
              <a:spcAft>
                <a:spcPts val="800"/>
              </a:spcAft>
            </a:pPr>
            <a:r>
              <a:rPr lang="en-IN" sz="2400" b="1" dirty="0">
                <a:latin typeface="Calibri Light" panose="020F0302020204030204" pitchFamily="34" charset="0"/>
                <a:cs typeface="Calibri Light" panose="020F0302020204030204" pitchFamily="34" charset="0"/>
              </a:rPr>
              <a:t>Encapsulated Class Design:</a:t>
            </a:r>
            <a:r>
              <a:rPr lang="en-IN" sz="2400" dirty="0">
                <a:latin typeface="Calibri Light" panose="020F0302020204030204" pitchFamily="34" charset="0"/>
                <a:cs typeface="Calibri Light" panose="020F0302020204030204" pitchFamily="34" charset="0"/>
              </a:rPr>
              <a:t> Core tracking variables are bundled safely inside class Parcel.</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Class Inheritance Hierarchies:</a:t>
            </a:r>
            <a:r>
              <a:rPr lang="en-IN" sz="2400" dirty="0">
                <a:latin typeface="Calibri Light" panose="020F0302020204030204" pitchFamily="34" charset="0"/>
                <a:cs typeface="Calibri Light" panose="020F0302020204030204" pitchFamily="34" charset="0"/>
              </a:rPr>
              <a:t> Specialized subclass relation created via class </a:t>
            </a:r>
            <a:r>
              <a:rPr lang="en-IN" sz="2400" dirty="0" err="1">
                <a:latin typeface="Calibri Light" panose="020F0302020204030204" pitchFamily="34" charset="0"/>
                <a:cs typeface="Calibri Light" panose="020F0302020204030204" pitchFamily="34" charset="0"/>
              </a:rPr>
              <a:t>UrgentParcel</a:t>
            </a:r>
            <a:r>
              <a:rPr lang="en-IN" sz="2400" dirty="0">
                <a:latin typeface="Calibri Light" panose="020F0302020204030204" pitchFamily="34" charset="0"/>
                <a:cs typeface="Calibri Light" panose="020F0302020204030204" pitchFamily="34" charset="0"/>
              </a:rPr>
              <a:t> extends Parcel.</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Constructor Chaining Infrastructure:</a:t>
            </a:r>
            <a:r>
              <a:rPr lang="en-IN" sz="2400" dirty="0">
                <a:latin typeface="Calibri Light" panose="020F0302020204030204" pitchFamily="34" charset="0"/>
                <a:cs typeface="Calibri Light" panose="020F0302020204030204" pitchFamily="34" charset="0"/>
              </a:rPr>
              <a:t> Reuses parent properties instantly inside subclass using super(id, w).</a:t>
            </a:r>
          </a:p>
          <a:p>
            <a:pPr lvl="0">
              <a:spcBef>
                <a:spcPts val="0"/>
              </a:spcBef>
              <a:spcAft>
                <a:spcPts val="800"/>
              </a:spcAft>
            </a:pPr>
            <a:r>
              <a:rPr lang="en-IN" sz="2400" b="1" dirty="0">
                <a:latin typeface="Calibri Light" panose="020F0302020204030204" pitchFamily="34" charset="0"/>
                <a:cs typeface="Calibri Light" panose="020F0302020204030204" pitchFamily="34" charset="0"/>
              </a:rPr>
              <a:t>Polymorphic Method Overriding:</a:t>
            </a:r>
            <a:r>
              <a:rPr lang="en-IN" sz="2400" dirty="0">
                <a:latin typeface="Calibri Light" panose="020F0302020204030204" pitchFamily="34" charset="0"/>
                <a:cs typeface="Calibri Light" panose="020F0302020204030204" pitchFamily="34" charset="0"/>
              </a:rPr>
              <a:t> Custom child printing </a:t>
            </a:r>
            <a:r>
              <a:rPr lang="en-IN" sz="2400" dirty="0" err="1">
                <a:latin typeface="Calibri Light" panose="020F0302020204030204" pitchFamily="34" charset="0"/>
                <a:cs typeface="Calibri Light" panose="020F0302020204030204" pitchFamily="34" charset="0"/>
              </a:rPr>
              <a:t>behaviors</a:t>
            </a:r>
            <a:r>
              <a:rPr lang="en-IN" sz="2400" dirty="0">
                <a:latin typeface="Calibri Light" panose="020F0302020204030204" pitchFamily="34" charset="0"/>
                <a:cs typeface="Calibri Light" panose="020F0302020204030204" pitchFamily="34" charset="0"/>
              </a:rPr>
              <a:t> verified safely via @Override.</a:t>
            </a:r>
          </a:p>
          <a:p>
            <a:pPr marL="0" indent="0">
              <a:spcBef>
                <a:spcPts val="0"/>
              </a:spcBef>
              <a:spcAft>
                <a:spcPts val="800"/>
              </a:spcAft>
              <a:buNone/>
            </a:pPr>
            <a:br>
              <a:rPr lang="en-IN" sz="2400" dirty="0">
                <a:latin typeface="Calibri Light" panose="020F0302020204030204" pitchFamily="34" charset="0"/>
                <a:cs typeface="Calibri Light" panose="020F0302020204030204" pitchFamily="34" charset="0"/>
              </a:rPr>
            </a:br>
            <a:endParaRPr lang="en-IN" sz="2400" dirty="0">
              <a:latin typeface="Calibri Light" panose="020F0302020204030204" pitchFamily="34" charset="0"/>
              <a:cs typeface="Calibri Light" panose="020F0302020204030204" pitchFamily="34" charset="0"/>
            </a:endParaRPr>
          </a:p>
          <a:p>
            <a:pPr marL="0" indent="0">
              <a:spcBef>
                <a:spcPts val="0"/>
              </a:spcBef>
              <a:spcAft>
                <a:spcPts val="800"/>
              </a:spcAft>
              <a:buNone/>
            </a:pPr>
            <a:endParaRPr lang="en-IN" dirty="0"/>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a:p>
        </p:txBody>
      </p:sp>
      <p:pic>
        <p:nvPicPr>
          <p:cNvPr id="6" name="Picture 5" descr="co4.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p:txBody>
          <a:bodyPr/>
          <a:lstStyle/>
          <a:p>
            <a:r>
              <a:rPr lang="en-IN" dirty="0"/>
              <a:t>CO 5</a:t>
            </a:r>
          </a:p>
        </p:txBody>
      </p:sp>
      <p:sp>
        <p:nvSpPr>
          <p:cNvPr id="3" name="Content Placeholder 2">
            <a:extLst>
              <a:ext uri="{FF2B5EF4-FFF2-40B4-BE49-F238E27FC236}">
                <a16:creationId xmlns:a16="http://schemas.microsoft.com/office/drawing/2014/main" id="{AC22B8C9-B5A8-6FD1-7D16-20BF4FBD74F4}"/>
              </a:ext>
            </a:extLst>
          </p:cNvPr>
          <p:cNvSpPr>
            <a:spLocks noGrp="1"/>
          </p:cNvSpPr>
          <p:nvPr>
            <p:ph idx="1"/>
          </p:nvPr>
        </p:nvSpPr>
        <p:spPr>
          <a:xfrm>
            <a:off x="777240" y="1691640"/>
            <a:ext cx="4892040" cy="4434840"/>
          </a:xfrm>
        </p:spPr>
        <p:txBody>
          <a:bodyPr>
            <a:normAutofit fontScale="85000" lnSpcReduction="20000"/>
          </a:bodyPr>
          <a:lstStyle/>
          <a:p>
            <a:pPr lvl="0">
              <a:spcBef>
                <a:spcPts val="600"/>
              </a:spcBef>
              <a:spcAft>
                <a:spcPts val="200"/>
              </a:spcAft>
            </a:pPr>
            <a:r>
              <a:rPr lang="en-IN" sz="2200" b="1" dirty="0">
                <a:latin typeface="Calibri Light" panose="020F0302020204030204" pitchFamily="34" charset="0"/>
                <a:cs typeface="Calibri Light" panose="020F0302020204030204" pitchFamily="34" charset="0"/>
              </a:rPr>
              <a:t>Types of Strings Used:</a:t>
            </a:r>
            <a:endParaRPr lang="en-IN" sz="2200" dirty="0">
              <a:latin typeface="Calibri Light" panose="020F0302020204030204" pitchFamily="34" charset="0"/>
              <a:cs typeface="Calibri Light" panose="020F0302020204030204" pitchFamily="34" charset="0"/>
            </a:endParaRPr>
          </a:p>
          <a:p>
            <a:pPr lvl="1">
              <a:spcBef>
                <a:spcPts val="0"/>
              </a:spcBef>
              <a:spcAft>
                <a:spcPts val="300"/>
              </a:spcAft>
            </a:pPr>
            <a:r>
              <a:rPr lang="en-IN" sz="2200" b="1" dirty="0">
                <a:latin typeface="Calibri Light" panose="020F0302020204030204" pitchFamily="34" charset="0"/>
                <a:cs typeface="Calibri Light" panose="020F0302020204030204" pitchFamily="34" charset="0"/>
              </a:rPr>
              <a:t>Static Strings:</a:t>
            </a:r>
            <a:r>
              <a:rPr lang="en-IN" sz="2200" dirty="0">
                <a:latin typeface="Calibri Light" panose="020F0302020204030204" pitchFamily="34" charset="0"/>
                <a:cs typeface="Calibri Light" panose="020F0302020204030204" pitchFamily="34" charset="0"/>
              </a:rPr>
              <a:t> Fixed text literals used for terminal menus and labels (e.g., "\n1. Book | 2. Grid...").</a:t>
            </a:r>
          </a:p>
          <a:p>
            <a:pPr lvl="1">
              <a:spcBef>
                <a:spcPts val="0"/>
              </a:spcBef>
              <a:spcAft>
                <a:spcPts val="300"/>
              </a:spcAft>
            </a:pPr>
            <a:r>
              <a:rPr lang="en-IN" sz="2200" b="1" dirty="0">
                <a:latin typeface="Calibri Light" panose="020F0302020204030204" pitchFamily="34" charset="0"/>
                <a:cs typeface="Calibri Light" panose="020F0302020204030204" pitchFamily="34" charset="0"/>
              </a:rPr>
              <a:t>Dynamic Strings:</a:t>
            </a:r>
            <a:r>
              <a:rPr lang="en-IN" sz="2200" dirty="0">
                <a:latin typeface="Calibri Light" panose="020F0302020204030204" pitchFamily="34" charset="0"/>
                <a:cs typeface="Calibri Light" panose="020F0302020204030204" pitchFamily="34" charset="0"/>
              </a:rPr>
              <a:t> Unique alphanumeric tracking codes (id) built at runtime by combining text blocks and numbers (e.g., "PKG-105-PIN6").</a:t>
            </a:r>
          </a:p>
          <a:p>
            <a:pPr lvl="0">
              <a:spcBef>
                <a:spcPts val="600"/>
              </a:spcBef>
              <a:spcAft>
                <a:spcPts val="200"/>
              </a:spcAft>
            </a:pPr>
            <a:r>
              <a:rPr lang="en-IN" sz="2200" b="1" dirty="0">
                <a:latin typeface="Calibri Light" panose="020F0302020204030204" pitchFamily="34" charset="0"/>
                <a:cs typeface="Calibri Light" panose="020F0302020204030204" pitchFamily="34" charset="0"/>
              </a:rPr>
              <a:t>The Try-Catch Guard:</a:t>
            </a:r>
            <a:endParaRPr lang="en-IN" sz="2200" dirty="0">
              <a:latin typeface="Calibri Light" panose="020F0302020204030204" pitchFamily="34" charset="0"/>
              <a:cs typeface="Calibri Light" panose="020F0302020204030204" pitchFamily="34" charset="0"/>
            </a:endParaRPr>
          </a:p>
          <a:p>
            <a:pPr lvl="1">
              <a:spcBef>
                <a:spcPts val="0"/>
              </a:spcBef>
              <a:spcAft>
                <a:spcPts val="300"/>
              </a:spcAft>
            </a:pPr>
            <a:r>
              <a:rPr lang="en-IN" sz="2200" dirty="0">
                <a:latin typeface="Calibri Light" panose="020F0302020204030204" pitchFamily="34" charset="0"/>
                <a:cs typeface="Calibri Light" panose="020F0302020204030204" pitchFamily="34" charset="0"/>
              </a:rPr>
              <a:t>Catches input runtime errors (like entering letters instead of a number).</a:t>
            </a:r>
          </a:p>
          <a:p>
            <a:pPr lvl="1">
              <a:spcBef>
                <a:spcPts val="0"/>
              </a:spcBef>
              <a:spcAft>
                <a:spcPts val="300"/>
              </a:spcAft>
            </a:pPr>
            <a:r>
              <a:rPr lang="en-IN" sz="2200" dirty="0">
                <a:latin typeface="Calibri Light" panose="020F0302020204030204" pitchFamily="34" charset="0"/>
                <a:cs typeface="Calibri Light" panose="020F0302020204030204" pitchFamily="34" charset="0"/>
              </a:rPr>
              <a:t>Clears the faulty scanner buffer using </a:t>
            </a:r>
            <a:r>
              <a:rPr lang="en-IN" sz="2200" dirty="0" err="1">
                <a:latin typeface="Calibri Light" panose="020F0302020204030204" pitchFamily="34" charset="0"/>
                <a:cs typeface="Calibri Light" panose="020F0302020204030204" pitchFamily="34" charset="0"/>
              </a:rPr>
              <a:t>sc.nextLine</a:t>
            </a:r>
            <a:r>
              <a:rPr lang="en-IN" sz="2200" dirty="0">
                <a:latin typeface="Calibri Light" panose="020F0302020204030204" pitchFamily="34" charset="0"/>
                <a:cs typeface="Calibri Light" panose="020F0302020204030204" pitchFamily="34" charset="0"/>
              </a:rPr>
              <a:t>() to prevent loop crashes.</a:t>
            </a:r>
          </a:p>
          <a:p>
            <a:pPr lvl="0">
              <a:spcBef>
                <a:spcPts val="600"/>
              </a:spcBef>
              <a:spcAft>
                <a:spcPts val="200"/>
              </a:spcAft>
            </a:pPr>
            <a:r>
              <a:rPr lang="en-IN" sz="2200" b="1" dirty="0">
                <a:latin typeface="Calibri Light" panose="020F0302020204030204" pitchFamily="34" charset="0"/>
                <a:cs typeface="Calibri Light" panose="020F0302020204030204" pitchFamily="34" charset="0"/>
              </a:rPr>
              <a:t>Importance of Dynamic Manipulation:</a:t>
            </a:r>
            <a:endParaRPr lang="en-IN" sz="2200" dirty="0">
              <a:latin typeface="Calibri Light" panose="020F0302020204030204" pitchFamily="34" charset="0"/>
              <a:cs typeface="Calibri Light" panose="020F0302020204030204" pitchFamily="34" charset="0"/>
            </a:endParaRPr>
          </a:p>
          <a:p>
            <a:pPr lvl="1">
              <a:spcBef>
                <a:spcPts val="0"/>
              </a:spcBef>
              <a:spcAft>
                <a:spcPts val="300"/>
              </a:spcAft>
            </a:pPr>
            <a:r>
              <a:rPr lang="en-IN" sz="2200" b="1" dirty="0">
                <a:latin typeface="Calibri Light" panose="020F0302020204030204" pitchFamily="34" charset="0"/>
                <a:cs typeface="Calibri Light" panose="020F0302020204030204" pitchFamily="34" charset="0"/>
              </a:rPr>
              <a:t>Crucial for scale:</a:t>
            </a:r>
            <a:r>
              <a:rPr lang="en-IN" sz="2200" dirty="0">
                <a:latin typeface="Calibri Light" panose="020F0302020204030204" pitchFamily="34" charset="0"/>
                <a:cs typeface="Calibri Light" panose="020F0302020204030204" pitchFamily="34" charset="0"/>
              </a:rPr>
              <a:t> Logistics tracking numbers cannot be hardcoded.</a:t>
            </a:r>
          </a:p>
          <a:p>
            <a:pPr lvl="1">
              <a:spcBef>
                <a:spcPts val="0"/>
              </a:spcBef>
              <a:spcAft>
                <a:spcPts val="300"/>
              </a:spcAft>
            </a:pPr>
            <a:r>
              <a:rPr lang="en-IN" sz="2200" dirty="0">
                <a:latin typeface="Calibri Light" panose="020F0302020204030204" pitchFamily="34" charset="0"/>
                <a:cs typeface="Calibri Light" panose="020F0302020204030204" pitchFamily="34" charset="0"/>
              </a:rPr>
              <a:t>It allows the program to generate distinct barcode identifiers on-the-fly for every new parcel booked</a:t>
            </a:r>
          </a:p>
          <a:p>
            <a:pPr>
              <a:spcBef>
                <a:spcPts val="600"/>
              </a:spcBef>
              <a:spcAft>
                <a:spcPts val="200"/>
              </a:spcAft>
            </a:pPr>
            <a:endParaRPr lang="en-IN" dirty="0"/>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pic>
        <p:nvPicPr>
          <p:cNvPr id="6" name="Picture 5" descr="co5.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p:txBody>
          <a:bodyPr/>
          <a:lstStyle/>
          <a:p>
            <a:r>
              <a:rPr lang="en-IN" dirty="0"/>
              <a:t>CO 6 </a:t>
            </a:r>
          </a:p>
        </p:txBody>
      </p:sp>
      <p:sp>
        <p:nvSpPr>
          <p:cNvPr id="3" name="Content Placeholder 2">
            <a:extLst>
              <a:ext uri="{FF2B5EF4-FFF2-40B4-BE49-F238E27FC236}">
                <a16:creationId xmlns:a16="http://schemas.microsoft.com/office/drawing/2014/main" id="{4D1AB529-5F96-F28F-CD50-8BFE419EE30E}"/>
              </a:ext>
            </a:extLst>
          </p:cNvPr>
          <p:cNvSpPr>
            <a:spLocks noGrp="1"/>
          </p:cNvSpPr>
          <p:nvPr>
            <p:ph idx="1"/>
          </p:nvPr>
        </p:nvSpPr>
        <p:spPr>
          <a:xfrm>
            <a:off x="777240" y="1592826"/>
            <a:ext cx="4892040" cy="4533654"/>
          </a:xfrm>
        </p:spPr>
        <p:txBody>
          <a:bodyPr>
            <a:normAutofit lnSpcReduction="10000"/>
          </a:bodyPr>
          <a:lstStyle/>
          <a:p>
            <a:pPr lvl="0">
              <a:spcBef>
                <a:spcPts val="600"/>
              </a:spcBef>
              <a:spcAft>
                <a:spcPts val="200"/>
              </a:spcAft>
            </a:pPr>
            <a:r>
              <a:rPr lang="en-IN" sz="2000" b="1" dirty="0" err="1">
                <a:latin typeface="Calibri Light" panose="020F0302020204030204" pitchFamily="34" charset="0"/>
                <a:cs typeface="Calibri Light" panose="020F0302020204030204" pitchFamily="34" charset="0"/>
              </a:rPr>
              <a:t>ArrayList</a:t>
            </a:r>
            <a:r>
              <a:rPr lang="en-IN" sz="2000" b="1" dirty="0">
                <a:latin typeface="Calibri Light" panose="020F0302020204030204" pitchFamily="34" charset="0"/>
                <a:cs typeface="Calibri Light" panose="020F0302020204030204" pitchFamily="34" charset="0"/>
              </a:rPr>
              <a:t> Storage:</a:t>
            </a:r>
            <a:endParaRPr lang="en-IN" sz="2000" dirty="0">
              <a:latin typeface="Calibri Light" panose="020F0302020204030204" pitchFamily="34" charset="0"/>
              <a:cs typeface="Calibri Light" panose="020F0302020204030204" pitchFamily="34" charset="0"/>
            </a:endParaRPr>
          </a:p>
          <a:p>
            <a:pPr lvl="1">
              <a:spcBef>
                <a:spcPts val="0"/>
              </a:spcBef>
              <a:spcAft>
                <a:spcPts val="300"/>
              </a:spcAft>
            </a:pPr>
            <a:r>
              <a:rPr lang="en-IN" sz="2000" dirty="0">
                <a:latin typeface="Calibri Light" panose="020F0302020204030204" pitchFamily="34" charset="0"/>
                <a:cs typeface="Calibri Light" panose="020F0302020204030204" pitchFamily="34" charset="0"/>
              </a:rPr>
              <a:t>Holds </a:t>
            </a:r>
            <a:r>
              <a:rPr lang="en-IN" sz="2000" dirty="0" err="1">
                <a:latin typeface="Calibri Light" panose="020F0302020204030204" pitchFamily="34" charset="0"/>
                <a:cs typeface="Calibri Light" panose="020F0302020204030204" pitchFamily="34" charset="0"/>
              </a:rPr>
              <a:t>UrgentParcel</a:t>
            </a:r>
            <a:r>
              <a:rPr lang="en-IN" sz="2000" dirty="0">
                <a:latin typeface="Calibri Light" panose="020F0302020204030204" pitchFamily="34" charset="0"/>
                <a:cs typeface="Calibri Light" panose="020F0302020204030204" pitchFamily="34" charset="0"/>
              </a:rPr>
              <a:t> objects sequentially.</a:t>
            </a:r>
          </a:p>
          <a:p>
            <a:pPr lvl="1">
              <a:spcBef>
                <a:spcPts val="0"/>
              </a:spcBef>
              <a:spcAft>
                <a:spcPts val="300"/>
              </a:spcAft>
            </a:pPr>
            <a:r>
              <a:rPr lang="en-IN" sz="2000" dirty="0">
                <a:latin typeface="Calibri Light" panose="020F0302020204030204" pitchFamily="34" charset="0"/>
                <a:cs typeface="Calibri Light" panose="020F0302020204030204" pitchFamily="34" charset="0"/>
              </a:rPr>
              <a:t>Grows dynamically to handle unpredictable parcel booking volumes.</a:t>
            </a:r>
          </a:p>
          <a:p>
            <a:pPr lvl="0">
              <a:spcBef>
                <a:spcPts val="600"/>
              </a:spcBef>
              <a:spcAft>
                <a:spcPts val="200"/>
              </a:spcAft>
            </a:pPr>
            <a:r>
              <a:rPr lang="en-IN" sz="2000" b="1" dirty="0">
                <a:latin typeface="Calibri Light" panose="020F0302020204030204" pitchFamily="34" charset="0"/>
                <a:cs typeface="Calibri Light" panose="020F0302020204030204" pitchFamily="34" charset="0"/>
              </a:rPr>
              <a:t>HashSet Filtering:</a:t>
            </a:r>
            <a:endParaRPr lang="en-IN" sz="2000" dirty="0">
              <a:latin typeface="Calibri Light" panose="020F0302020204030204" pitchFamily="34" charset="0"/>
              <a:cs typeface="Calibri Light" panose="020F0302020204030204" pitchFamily="34" charset="0"/>
            </a:endParaRPr>
          </a:p>
          <a:p>
            <a:pPr lvl="1">
              <a:spcBef>
                <a:spcPts val="0"/>
              </a:spcBef>
              <a:spcAft>
                <a:spcPts val="300"/>
              </a:spcAft>
            </a:pPr>
            <a:r>
              <a:rPr lang="en-IN" sz="2000" dirty="0">
                <a:latin typeface="Calibri Light" panose="020F0302020204030204" pitchFamily="34" charset="0"/>
                <a:cs typeface="Calibri Light" panose="020F0302020204030204" pitchFamily="34" charset="0"/>
              </a:rPr>
              <a:t>Stores unique destination names ("HUB-X").</a:t>
            </a:r>
          </a:p>
          <a:p>
            <a:pPr lvl="1">
              <a:spcBef>
                <a:spcPts val="0"/>
              </a:spcBef>
              <a:spcAft>
                <a:spcPts val="300"/>
              </a:spcAft>
            </a:pPr>
            <a:r>
              <a:rPr lang="en-IN" sz="2000" dirty="0">
                <a:latin typeface="Calibri Light" panose="020F0302020204030204" pitchFamily="34" charset="0"/>
                <a:cs typeface="Calibri Light" panose="020F0302020204030204" pitchFamily="34" charset="0"/>
              </a:rPr>
              <a:t>Automatically drops duplicate records to keep transit lists clean.</a:t>
            </a:r>
          </a:p>
          <a:p>
            <a:pPr lvl="0">
              <a:spcBef>
                <a:spcPts val="600"/>
              </a:spcBef>
              <a:spcAft>
                <a:spcPts val="200"/>
              </a:spcAft>
            </a:pPr>
            <a:r>
              <a:rPr lang="en-IN" sz="2000" b="1" dirty="0">
                <a:latin typeface="Calibri Light" panose="020F0302020204030204" pitchFamily="34" charset="0"/>
                <a:cs typeface="Calibri Light" panose="020F0302020204030204" pitchFamily="34" charset="0"/>
              </a:rPr>
              <a:t>Terminal Operations Only:</a:t>
            </a:r>
            <a:endParaRPr lang="en-IN" sz="2000" dirty="0">
              <a:latin typeface="Calibri Light" panose="020F0302020204030204" pitchFamily="34" charset="0"/>
              <a:cs typeface="Calibri Light" panose="020F0302020204030204" pitchFamily="34" charset="0"/>
            </a:endParaRPr>
          </a:p>
          <a:p>
            <a:pPr lvl="1">
              <a:spcBef>
                <a:spcPts val="0"/>
              </a:spcBef>
              <a:spcAft>
                <a:spcPts val="300"/>
              </a:spcAft>
            </a:pPr>
            <a:r>
              <a:rPr lang="en-IN" sz="2000" b="1" dirty="0">
                <a:latin typeface="Calibri Light" panose="020F0302020204030204" pitchFamily="34" charset="0"/>
                <a:cs typeface="Calibri Light" panose="020F0302020204030204" pitchFamily="34" charset="0"/>
              </a:rPr>
              <a:t>count():</a:t>
            </a:r>
            <a:r>
              <a:rPr lang="en-IN" sz="2000" dirty="0">
                <a:latin typeface="Calibri Light" panose="020F0302020204030204" pitchFamily="34" charset="0"/>
                <a:cs typeface="Calibri Light" panose="020F0302020204030204" pitchFamily="34" charset="0"/>
              </a:rPr>
              <a:t> Extracts quick totals of registered cargo directly from the stream.</a:t>
            </a:r>
          </a:p>
          <a:p>
            <a:pPr lvl="1">
              <a:spcBef>
                <a:spcPts val="0"/>
              </a:spcBef>
              <a:spcAft>
                <a:spcPts val="300"/>
              </a:spcAft>
            </a:pPr>
            <a:r>
              <a:rPr lang="en-IN" sz="2000" b="1" dirty="0" err="1">
                <a:latin typeface="Calibri Light" panose="020F0302020204030204" pitchFamily="34" charset="0"/>
                <a:cs typeface="Calibri Light" panose="020F0302020204030204" pitchFamily="34" charset="0"/>
              </a:rPr>
              <a:t>forEach</a:t>
            </a:r>
            <a:r>
              <a:rPr lang="en-IN" sz="2000" b="1" dirty="0">
                <a:latin typeface="Calibri Light" panose="020F0302020204030204" pitchFamily="34" charset="0"/>
                <a:cs typeface="Calibri Light" panose="020F0302020204030204" pitchFamily="34" charset="0"/>
              </a:rPr>
              <a:t>():</a:t>
            </a:r>
            <a:r>
              <a:rPr lang="en-IN" sz="2000" dirty="0">
                <a:latin typeface="Calibri Light" panose="020F0302020204030204" pitchFamily="34" charset="0"/>
                <a:cs typeface="Calibri Light" panose="020F0302020204030204" pitchFamily="34" charset="0"/>
              </a:rPr>
              <a:t> Prints tracking details cleanly without heavy, multi-line nested loops.</a:t>
            </a:r>
          </a:p>
          <a:p>
            <a:pPr marL="0" indent="0">
              <a:spcBef>
                <a:spcPts val="600"/>
              </a:spcBef>
              <a:spcAft>
                <a:spcPts val="200"/>
              </a:spcAft>
              <a:buNone/>
            </a:pPr>
            <a:endParaRPr lang="en-IN" dirty="0"/>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9</a:t>
            </a:fld>
            <a:endParaRPr lang="en-IN"/>
          </a:p>
        </p:txBody>
      </p:sp>
      <p:pic>
        <p:nvPicPr>
          <p:cNvPr id="6" name="Picture 5" descr="co6.png"/>
          <p:cNvPicPr>
            <a:picLocks noChangeAspect="1"/>
          </p:cNvPicPr>
          <p:nvPr/>
        </p:nvPicPr>
        <p:blipFill>
          <a:blip r:embed="rId2"/>
          <a:stretch>
            <a:fillRect/>
          </a:stretch>
        </p:blipFill>
        <p:spPr>
          <a:xfrm>
            <a:off x="5897880" y="1691640"/>
            <a:ext cx="5532120" cy="3493971"/>
          </a:xfrm>
          <a:prstGeom prst="rect">
            <a:avLst/>
          </a:prstGeom>
        </p:spPr>
      </p:pic>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2A290F1-736B-3136-6FB3-89FC4E638D92}"/>
              </a:ext>
            </a:extLst>
          </p:cNvPr>
          <p:cNvSpPr>
            <a:spLocks noGrp="1"/>
          </p:cNvSpPr>
          <p:nvPr>
            <p:ph idx="1"/>
          </p:nvPr>
        </p:nvSpPr>
        <p:spPr/>
        <p:txBody>
          <a:bodyPr>
            <a:normAutofit/>
          </a:bodyPr>
          <a:lstStyle/>
          <a:p>
            <a:r>
              <a:rPr sz="2000"/>
              <a:t>The Courier Delivery and Route Tracking System successfully brings together all six core Java programming outcomes into a unified management application. Moving away from long, cluttered main functions into a layout of specialized classes, recursive subroutines, and structured collection filters has vastly improved code maintenance and execution speeds. By combining 2-D array slot checking, persistent file writing via buffered streams, and built-in exception handling, this software provides a highly reliable digital solution to traditional logistics problems. This architecture successfully lowers manual tracking errors, handles runtime exceptions gracefully, and maintains highly reliable package manifests.</a:t>
            </a:r>
          </a:p>
          <a:p>
            <a:pPr marL="0" indent="0">
              <a:buNone/>
            </a:pPr>
            <a:endParaRPr lang="en-IN" sz="2400" dirty="0">
              <a:latin typeface="Calibri Light" panose="020F0302020204030204" pitchFamily="34" charset="0"/>
              <a:cs typeface="Calibri Light" panose="020F0302020204030204" pitchFamily="34" charset="0"/>
            </a:endParaRPr>
          </a:p>
          <a:p>
            <a:endParaRPr lang="en-IN" dirty="0"/>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10</a:t>
            </a:fld>
            <a:endParaRPr lang="en-IN"/>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p:txBody>
          <a:bodyPr/>
          <a:lstStyle/>
          <a:p>
            <a:r>
              <a:rPr lang="en-IN"/>
              <a:t>Screen Shots</a:t>
            </a:r>
            <a:endParaRPr lang="en-IN" dirty="0"/>
          </a:p>
        </p:txBody>
      </p:sp>
      <p:pic>
        <p:nvPicPr>
          <p:cNvPr id="7" name="Content Placeholder 6">
            <a:extLst>
              <a:ext uri="{FF2B5EF4-FFF2-40B4-BE49-F238E27FC236}">
                <a16:creationId xmlns:a16="http://schemas.microsoft.com/office/drawing/2014/main" id="{F9D86440-4C77-F341-10B6-77E8336290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351" y="1442632"/>
            <a:ext cx="11477297" cy="4913718"/>
          </a:xfrm>
          <a:prstGeom prst="rect">
            <a:avLst/>
          </a:prstGeom>
        </p:spPr>
      </p:pic>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16-10-2026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12</a:t>
            </a:fld>
            <a:endParaRPr lang="en-IN"/>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846</Words>
  <Application>Microsoft Office PowerPoint</Application>
  <PresentationFormat>Widescreen</PresentationFormat>
  <Paragraphs>82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Bahnschrift</vt:lpstr>
      <vt:lpstr>Calibri Light</vt:lpstr>
      <vt:lpstr>Office Theme</vt:lpstr>
      <vt:lpstr>Courier Delivery and route tracking (Group no 22)</vt:lpstr>
      <vt:lpstr>Abstract</vt:lpstr>
      <vt:lpstr>Understanding Problem Statement</vt:lpstr>
      <vt:lpstr>CO 1 Topics</vt:lpstr>
      <vt:lpstr>Co 2 TOPICS</vt:lpstr>
      <vt:lpstr>CO 3 Topics</vt:lpstr>
      <vt:lpstr>CO 4</vt:lpstr>
      <vt:lpstr>CO 5</vt:lpstr>
      <vt:lpstr>CO 6 </vt:lpstr>
      <vt:lpstr>Conclusion</vt:lpstr>
      <vt:lpstr>Screen 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Varshita Chowdary</cp:lastModifiedBy>
  <cp:revision>9</cp:revision>
  <dcterms:created xsi:type="dcterms:W3CDTF">2026-09-15T09:57:10Z</dcterms:created>
  <dcterms:modified xsi:type="dcterms:W3CDTF">2026-10-16T06:37:29Z</dcterms:modified>
</cp:coreProperties>
</file>